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CharacterLock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Persistent Character Memory for Film Production</a:t>
            </a:r>
          </a:p>
          <a:p>
            <a:r>
              <a:t>Cine AI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The Problem: AI Character Inconsistency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Current AI tools cannot maintain character consistency</a:t>
            </a:r>
          </a:p>
          <a:p>
            <a:pPr>
              <a:defRPr sz="1600"/>
            </a:pPr>
            <a:r>
              <a:t>Characters change appearance between scenes and frames</a:t>
            </a:r>
          </a:p>
          <a:p>
            <a:pPr>
              <a:defRPr sz="1600"/>
            </a:pPr>
            <a:r>
              <a:t>AI-generated storyboards require extensive manual rework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This eliminates AI's promised cost savings:</a:t>
            </a:r>
          </a:p>
          <a:p>
            <a:pPr>
              <a:defRPr sz="1600"/>
            </a:pPr>
            <a:r>
              <a:t>• AI can save 70-90% on production costs*</a:t>
            </a:r>
          </a:p>
          <a:p>
            <a:pPr>
              <a:defRPr sz="1600"/>
            </a:pPr>
            <a:r>
              <a:t>• But only if the output doesn't need correction</a:t>
            </a:r>
          </a:p>
          <a:p>
            <a:pPr>
              <a:defRPr sz="1600"/>
            </a:pPr>
            <a:r>
              <a:t>• Character inconsistency forces creators back to manual methods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Result: AI's promise of democratizing filmmaking remains unfulfilled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646464"/>
                </a:solidFill>
              </a:defRPr>
            </a:pPr>
            <a:r>
              <a:t>* Source: AIStudios, Pyxeljam (2025) - AI vs Traditional Production Cost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Real Cost of Inconsistency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Traditional Production Costs:</a:t>
            </a:r>
          </a:p>
          <a:p>
            <a:pPr>
              <a:defRPr sz="1600"/>
            </a:pPr>
            <a:r>
              <a:t>• Video production: $3,000 - $15,000 per project*</a:t>
            </a:r>
          </a:p>
          <a:p>
            <a:pPr>
              <a:defRPr sz="1600"/>
            </a:pPr>
            <a:r>
              <a:t>• Character development: $2,000 - $200,000 (complexity-dependent)**</a:t>
            </a:r>
          </a:p>
          <a:p>
            <a:pPr>
              <a:defRPr sz="1600"/>
            </a:pPr>
            <a:r>
              <a:t>• Timeline: 2-8 weeks per project*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AI's Promise:</a:t>
            </a:r>
          </a:p>
          <a:p>
            <a:pPr>
              <a:defRPr sz="1600"/>
            </a:pPr>
            <a:r>
              <a:t>• 70-90% cost reduction*</a:t>
            </a:r>
          </a:p>
          <a:p>
            <a:pPr>
              <a:defRPr sz="1600"/>
            </a:pPr>
            <a:r>
              <a:t>• Up to 90% time reduction*</a:t>
            </a:r>
          </a:p>
          <a:p>
            <a:pPr>
              <a:defRPr sz="1600"/>
            </a:pPr>
            <a:r>
              <a:t>• Cost per minute: $0.50 - $2.13*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The Gap:</a:t>
            </a:r>
          </a:p>
          <a:p>
            <a:pPr>
              <a:defRPr sz="1600"/>
            </a:pPr>
            <a:r>
              <a:t>Character inconsistency prevents achieving these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646464"/>
                </a:solidFill>
              </a:defRPr>
            </a:pPr>
            <a:r>
              <a:t>Sources: * AIStudios, Advids, Pyxeljam (2025)  ** BuildAIAvatar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Our Idea: CharacterLock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Persistent Character Memory with 'Character DNA'</a:t>
            </a:r>
          </a:p>
          <a:p>
            <a:pPr>
              <a:defRPr sz="1600"/>
            </a:pPr>
            <a:r>
              <a:t>• Extract visual identity from 1-3 reference images</a:t>
            </a:r>
          </a:p>
          <a:p>
            <a:pPr>
              <a:defRPr sz="1600"/>
            </a:pPr>
            <a:r>
              <a:t>• Create reusable character embeddings</a:t>
            </a:r>
          </a:p>
          <a:p>
            <a:pPr>
              <a:defRPr sz="1600"/>
            </a:pPr>
            <a:r>
              <a:t>• Maintain consistency across unlimited generations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Automated Consistency Validation</a:t>
            </a:r>
          </a:p>
          <a:p>
            <a:pPr>
              <a:defRPr sz="1600"/>
            </a:pPr>
            <a:r>
              <a:t>• AI-powered quality scoring (0-100%)</a:t>
            </a:r>
          </a:p>
          <a:p>
            <a:pPr>
              <a:defRPr sz="1600"/>
            </a:pPr>
            <a:r>
              <a:t>• Detailed frame-by-frame analysis</a:t>
            </a:r>
          </a:p>
          <a:p>
            <a:pPr>
              <a:defRPr sz="1600"/>
            </a:pPr>
            <a:r>
              <a:t>• Actionable recommendations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Smart Regeneration</a:t>
            </a:r>
          </a:p>
          <a:p>
            <a:pPr>
              <a:defRPr sz="1600"/>
            </a:pPr>
            <a:r>
              <a:t>• Fix only problematic frames</a:t>
            </a:r>
          </a:p>
          <a:p>
            <a:pPr>
              <a:defRPr sz="1600"/>
            </a:pPr>
            <a:r>
              <a:t>• Preserve AI's cost &amp; time advantages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(3 Simple Steps)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STEP 1: Create Character (10-15 seconds)</a:t>
            </a:r>
          </a:p>
          <a:p>
            <a:pPr>
              <a:defRPr sz="1600"/>
            </a:pPr>
            <a:r>
              <a:t>  • Upload 1-3 reference images of your character</a:t>
            </a:r>
          </a:p>
          <a:p>
            <a:pPr>
              <a:defRPr sz="1600"/>
            </a:pPr>
            <a:r>
              <a:t>  • AI extracts 'Character DNA' using Vision API</a:t>
            </a:r>
          </a:p>
          <a:p>
            <a:pPr>
              <a:defRPr sz="1600"/>
            </a:pPr>
            <a:r>
              <a:t>  • Permanent visual identity created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STEP 2: Generate Storyboard (4-6 minutes for 10 frames)</a:t>
            </a:r>
          </a:p>
          <a:p>
            <a:pPr>
              <a:defRPr sz="1600"/>
            </a:pPr>
            <a:r>
              <a:t>  • Write your script in natural language</a:t>
            </a:r>
          </a:p>
          <a:p>
            <a:pPr>
              <a:defRPr sz="1600"/>
            </a:pPr>
            <a:r>
              <a:t>  • Select characters to include</a:t>
            </a:r>
          </a:p>
          <a:p>
            <a:pPr>
              <a:defRPr sz="1600"/>
            </a:pPr>
            <a:r>
              <a:t>  • AI generates consistent frames with Character DNA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STEP 3: Validate &amp; Fix (15-25 seconds)</a:t>
            </a:r>
          </a:p>
          <a:p>
            <a:pPr>
              <a:defRPr sz="1600"/>
            </a:pPr>
            <a:r>
              <a:t>  • Automated consistency scoring</a:t>
            </a:r>
          </a:p>
          <a:p>
            <a:pPr>
              <a:defRPr sz="1600"/>
            </a:pPr>
            <a:r>
              <a:t>  • Get detailed quality report</a:t>
            </a:r>
          </a:p>
          <a:p>
            <a:pPr>
              <a:defRPr sz="1600"/>
            </a:pPr>
            <a:r>
              <a:t>  • One-click regeneration for low scores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369A1"/>
                </a:solidFill>
              </a:defRPr>
            </a:pPr>
            <a:r>
              <a:t>4. How It Works: Technical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CHARACTER DNA SYSTEM:</a:t>
            </a:r>
          </a:p>
          <a:p>
            <a:pPr>
              <a:spcAft>
                <a:spcPts val="1200"/>
              </a:spcAft>
              <a:defRPr sz="1400"/>
            </a:pPr>
            <a:r>
              <a:t>• Vision API analyzes references</a:t>
            </a:r>
          </a:p>
          <a:p>
            <a:pPr>
              <a:spcAft>
                <a:spcPts val="1200"/>
              </a:spcAft>
              <a:defRPr sz="1400"/>
            </a:pPr>
            <a:r>
              <a:t>• Extracts: facial features, hair, clothing, style</a:t>
            </a:r>
          </a:p>
          <a:p>
            <a:pPr>
              <a:spcAft>
                <a:spcPts val="1200"/>
              </a:spcAft>
              <a:defRPr sz="1400"/>
            </a:pPr>
            <a:r>
              <a:t>• Creates persistent embedding vector</a:t>
            </a:r>
          </a:p>
          <a:p>
            <a:pPr>
              <a:spcAft>
                <a:spcPts val="1200"/>
              </a:spcAft>
              <a:defRPr sz="1400"/>
            </a:pPr>
            <a:r>
              <a:t>• Generates optimized prompt template</a:t>
            </a:r>
          </a:p>
          <a:p>
            <a:pPr>
              <a:spcAft>
                <a:spcPts val="1200"/>
              </a:spcAft>
              <a:defRPr sz="1400"/>
            </a:pPr>
            <a:r>
              <a:t>• Stored for unlimited reuse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GENERATION PROCESS:</a:t>
            </a:r>
          </a:p>
          <a:p>
            <a:pPr>
              <a:spcAft>
                <a:spcPts val="1200"/>
              </a:spcAft>
              <a:defRPr sz="1400"/>
            </a:pPr>
            <a:r>
              <a:t>• GPT-4 parses script → scenes</a:t>
            </a:r>
          </a:p>
          <a:p>
            <a:pPr>
              <a:spcAft>
                <a:spcPts val="1200"/>
              </a:spcAft>
              <a:defRPr sz="1400"/>
            </a:pPr>
            <a:r>
              <a:t>• Character DNA injected into every prompt</a:t>
            </a:r>
          </a:p>
          <a:p>
            <a:pPr>
              <a:spcAft>
                <a:spcPts val="1200"/>
              </a:spcAft>
              <a:defRPr sz="1400"/>
            </a:pPr>
            <a:r>
              <a:t>• DALL-E 3 generates with instructions</a:t>
            </a:r>
          </a:p>
          <a:p>
            <a:pPr>
              <a:spcAft>
                <a:spcPts val="1200"/>
              </a:spcAft>
              <a:defRPr sz="1400"/>
            </a:pPr>
            <a:r>
              <a:t>• Identity maintained across all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CONSISTENCY VALIDATION:</a:t>
            </a:r>
          </a:p>
          <a:p>
            <a:pPr>
              <a:spcAft>
                <a:spcPts val="1200"/>
              </a:spcAft>
              <a:defRPr sz="1400"/>
            </a:pPr>
            <a:r>
              <a:t>• Vision API extracts frame features</a:t>
            </a:r>
          </a:p>
          <a:p>
            <a:pPr>
              <a:spcAft>
                <a:spcPts val="1200"/>
              </a:spcAft>
              <a:defRPr sz="1400"/>
            </a:pPr>
            <a:r>
              <a:t>• Calculates cosine similarity vs. DNA</a:t>
            </a:r>
          </a:p>
          <a:p>
            <a:pPr>
              <a:spcAft>
                <a:spcPts val="1200"/>
              </a:spcAft>
              <a:defRPr sz="1400"/>
            </a:pPr>
            <a:r>
              <a:t>• Scoring: 85%+ Excellent, 70-84% Good, &lt;70% Fix</a:t>
            </a:r>
          </a:p>
          <a:p>
            <a:pPr>
              <a:spcAft>
                <a:spcPts val="1200"/>
              </a:spcAft>
              <a:defRPr sz="1400"/>
            </a:pPr>
            <a:r>
              <a:t>• Generates detailed recommendations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SMART REGENERATION:</a:t>
            </a:r>
          </a:p>
          <a:p>
            <a:pPr>
              <a:spcAft>
                <a:spcPts val="1200"/>
              </a:spcAft>
              <a:defRPr sz="1400"/>
            </a:pPr>
            <a:r>
              <a:t>• Flags problematic frames automatically</a:t>
            </a:r>
          </a:p>
          <a:p>
            <a:pPr>
              <a:spcAft>
                <a:spcPts val="1200"/>
              </a:spcAft>
              <a:defRPr sz="1400"/>
            </a:pPr>
            <a:r>
              <a:t>• One-click fix using same DNA</a:t>
            </a:r>
          </a:p>
          <a:p>
            <a:pPr>
              <a:spcAft>
                <a:spcPts val="1200"/>
              </a:spcAft>
              <a:defRPr sz="1400"/>
            </a:pPr>
            <a:r>
              <a:t>• No full storyboard regeneration needed</a:t>
            </a:r>
          </a:p>
          <a:p>
            <a:pPr>
              <a:spcAft>
                <a:spcPts val="1200"/>
              </a:spcAft>
              <a:defRPr sz="1400"/>
            </a:pPr>
            <a:r>
              <a:t>• Iterative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369A1"/>
                </a:solidFill>
              </a:defRPr>
            </a:pPr>
            <a:r>
              <a:t>3. Why CharacterLock AI is Better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EXISTING AI TOOLS:</a:t>
            </a:r>
          </a:p>
          <a:p>
            <a:pPr>
              <a:spcAft>
                <a:spcPts val="1200"/>
              </a:spcAft>
              <a:defRPr sz="1400"/>
            </a:pPr>
            <a:r>
              <a:t>• 40-60% consistency (baseline)</a:t>
            </a:r>
          </a:p>
          <a:p>
            <a:pPr>
              <a:spcAft>
                <a:spcPts val="1200"/>
              </a:spcAft>
              <a:defRPr sz="1400"/>
            </a:pPr>
            <a:r>
              <a:t>• Manual quality checking required</a:t>
            </a:r>
          </a:p>
          <a:p>
            <a:pPr>
              <a:spcAft>
                <a:spcPts val="1200"/>
              </a:spcAft>
              <a:defRPr sz="1400"/>
            </a:pPr>
            <a:r>
              <a:t>• Separate tools for each step</a:t>
            </a:r>
          </a:p>
          <a:p>
            <a:pPr>
              <a:spcAft>
                <a:spcPts val="1200"/>
              </a:spcAft>
              <a:defRPr sz="1400"/>
            </a:pPr>
            <a:r>
              <a:t>• No quantified metrics</a:t>
            </a:r>
          </a:p>
          <a:p>
            <a:pPr>
              <a:spcAft>
                <a:spcPts val="1200"/>
              </a:spcAft>
              <a:defRPr sz="1400"/>
            </a:pPr>
            <a:r>
              <a:t>• Full regeneration when flawed</a:t>
            </a:r>
          </a:p>
          <a:p>
            <a:pPr>
              <a:spcAft>
                <a:spcPts val="1200"/>
              </a:spcAft>
              <a:defRPr sz="1400"/>
            </a:pPr>
            <a:r>
              <a:t>• No explainability</a:t>
            </a:r>
          </a:p>
          <a:p>
            <a:pPr>
              <a:spcAft>
                <a:spcPts val="1200"/>
              </a:spcAft>
              <a:defRPr sz="1400"/>
            </a:pPr>
            <a:r>
              <a:t>• Results in inconsistent output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→ Forces creators back to manual methods</a:t>
            </a:r>
          </a:p>
          <a:p>
            <a:pPr>
              <a:spcAft>
                <a:spcPts val="1200"/>
              </a:spcAft>
              <a:defRPr sz="1400"/>
            </a:pPr>
            <a:r>
              <a:t>→ Eliminates AI's cost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CHARACTERLOCK AI:</a:t>
            </a:r>
          </a:p>
          <a:p>
            <a:pPr>
              <a:spcAft>
                <a:spcPts val="1200"/>
              </a:spcAft>
              <a:defRPr sz="1400"/>
            </a:pPr>
            <a:r>
              <a:t>• 85%+ consistency (proven)</a:t>
            </a:r>
          </a:p>
          <a:p>
            <a:pPr>
              <a:spcAft>
                <a:spcPts val="1200"/>
              </a:spcAft>
              <a:defRPr sz="1400"/>
            </a:pPr>
            <a:r>
              <a:t>• Automated validation + scores</a:t>
            </a:r>
          </a:p>
          <a:p>
            <a:pPr>
              <a:spcAft>
                <a:spcPts val="1200"/>
              </a:spcAft>
              <a:defRPr sz="1400"/>
            </a:pPr>
            <a:r>
              <a:t>• Unified, integrated workflow</a:t>
            </a:r>
          </a:p>
          <a:p>
            <a:pPr>
              <a:spcAft>
                <a:spcPts val="1200"/>
              </a:spcAft>
              <a:defRPr sz="1400"/>
            </a:pPr>
            <a:r>
              <a:t>• Quantified quality (0-100%)</a:t>
            </a:r>
          </a:p>
          <a:p>
            <a:pPr>
              <a:spcAft>
                <a:spcPts val="1200"/>
              </a:spcAft>
              <a:defRPr sz="1400"/>
            </a:pPr>
            <a:r>
              <a:t>• Smart frame-level fixes</a:t>
            </a:r>
          </a:p>
          <a:p>
            <a:pPr>
              <a:spcAft>
                <a:spcPts val="1200"/>
              </a:spcAft>
              <a:defRPr sz="1400"/>
            </a:pPr>
            <a:r>
              <a:t>• Detailed reports</a:t>
            </a:r>
          </a:p>
          <a:p>
            <a:pPr>
              <a:spcAft>
                <a:spcPts val="1200"/>
              </a:spcAft>
              <a:defRPr sz="1400"/>
            </a:pPr>
            <a:r>
              <a:t>• Production-ready output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→ Preserves AI's 70-90% cost savings</a:t>
            </a:r>
          </a:p>
          <a:p>
            <a:pPr>
              <a:spcAft>
                <a:spcPts val="1200"/>
              </a:spcAft>
              <a:defRPr sz="1400"/>
            </a:pPr>
            <a:r>
              <a:t>→ Achieves promised time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Unique 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✓ Only integrated Create → Generate → Validate workflow</a:t>
            </a:r>
          </a:p>
          <a:p>
            <a:pPr>
              <a:defRPr sz="1600"/>
            </a:pPr>
            <a:r>
              <a:t>✓ Quantified quality scores (not subjective guesswork)</a:t>
            </a:r>
          </a:p>
          <a:p>
            <a:pPr>
              <a:defRPr sz="1600"/>
            </a:pPr>
            <a:r>
              <a:t>✓ Production-ready consistency (85%+ vs 40-60% baseline)</a:t>
            </a:r>
          </a:p>
          <a:p>
            <a:pPr>
              <a:defRPr sz="1600"/>
            </a:pPr>
            <a:r>
              <a:t>✓ Smart regeneration (fix frames, not entire storyboards)</a:t>
            </a:r>
          </a:p>
          <a:p>
            <a:pPr>
              <a:defRPr sz="1600"/>
            </a:pPr>
            <a:r>
              <a:t>✓ Explainable AI (detailed reports show exactly what to fix)</a:t>
            </a:r>
          </a:p>
          <a:p>
            <a:pPr>
              <a:defRPr sz="1600"/>
            </a:pPr>
            <a:r>
              <a:t>✓ Cost-effective (~$0.46 per 10-frame storyboard)</a:t>
            </a:r>
          </a:p>
          <a:p>
            <a:pPr>
              <a:defRPr sz="1600"/>
            </a:pPr>
            <a:r>
              <a:t>✓ Fast (complete workflow in 5-6 minutes)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No competitor offers all of these 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5. Expected Impact: Proven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defRPr sz="4400" b="1">
                <a:solidFill>
                  <a:srgbClr val="0369A1"/>
                </a:solidFill>
              </a:defRPr>
            </a:pPr>
            <a:r>
              <a:t>85%+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800"/>
            </a:pPr>
            <a:r>
              <a:t>Character consistency achieved (vs. 40-60% baseline AI)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Impact: Unlocking AI's Full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PRESERVES AI'S COST SAVINGS:</a:t>
            </a:r>
          </a:p>
          <a:p>
            <a:pPr>
              <a:defRPr sz="1600"/>
            </a:pPr>
            <a:r>
              <a:t>• Prevents manual correction costs</a:t>
            </a:r>
          </a:p>
          <a:p>
            <a:pPr>
              <a:defRPr sz="1600"/>
            </a:pPr>
            <a:r>
              <a:t>• Maintains 70-90% cost advantage</a:t>
            </a:r>
          </a:p>
          <a:p>
            <a:pPr>
              <a:defRPr sz="1600"/>
            </a:pPr>
            <a:r>
              <a:t>• API cost: ~$0.46 per 10-frame storyboard</a:t>
            </a:r>
          </a:p>
          <a:p>
            <a:pPr>
              <a:defRPr sz="1600"/>
            </a:pPr>
            <a:r>
              <a:t>• vs. $3,000-$15,000 traditional production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PRESERVES AI'S TIME SAVINGS:</a:t>
            </a:r>
          </a:p>
          <a:p>
            <a:pPr>
              <a:defRPr sz="1600"/>
            </a:pPr>
            <a:r>
              <a:t>• Complete storyboard: 5-6 minutes</a:t>
            </a:r>
          </a:p>
          <a:p>
            <a:pPr>
              <a:defRPr sz="1600"/>
            </a:pPr>
            <a:r>
              <a:t>• Validation: 15-25 seconds</a:t>
            </a:r>
          </a:p>
          <a:p>
            <a:pPr>
              <a:defRPr sz="1600"/>
            </a:pPr>
            <a:r>
              <a:t>• vs. 2-8 weeks traditional timeline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ENABLES ACCESSIBILITY:</a:t>
            </a:r>
          </a:p>
          <a:p>
            <a:pPr>
              <a:defRPr sz="1600"/>
            </a:pPr>
            <a:r>
              <a:t>• Indie filmmakers can now use AI confidently</a:t>
            </a:r>
          </a:p>
          <a:p>
            <a:pPr>
              <a:defRPr sz="1600"/>
            </a:pPr>
            <a:r>
              <a:t>• Small studios gain production-ready tools</a:t>
            </a:r>
          </a:p>
          <a:p>
            <a:pPr>
              <a:defRPr sz="1600"/>
            </a:pPr>
            <a:r>
              <a:t>• Democratizes film pre-production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TARGET USERS:</a:t>
            </a:r>
          </a:p>
          <a:p>
            <a:pPr>
              <a:defRPr sz="1600"/>
            </a:pPr>
            <a:r>
              <a:t>• Independent filmmakers (need affordable, consistent output)</a:t>
            </a:r>
          </a:p>
          <a:p>
            <a:pPr>
              <a:defRPr sz="1600"/>
            </a:pPr>
            <a:r>
              <a:t>• Production studios (rapid pre-visualization)</a:t>
            </a:r>
          </a:p>
          <a:p>
            <a:pPr>
              <a:defRPr sz="1600"/>
            </a:pPr>
            <a:r>
              <a:t>• Animation teams (consistency at scale)</a:t>
            </a:r>
          </a:p>
          <a:p>
            <a:pPr>
              <a:defRPr sz="1600"/>
            </a:pPr>
            <a:r>
              <a:t>• Ad agencies (fast concept visualization)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MARKET SIZE:</a:t>
            </a:r>
          </a:p>
          <a:p>
            <a:pPr>
              <a:defRPr sz="1600"/>
            </a:pPr>
            <a:r>
              <a:t>• Pre-visualization market: $2.8B globally*</a:t>
            </a:r>
          </a:p>
          <a:p>
            <a:pPr>
              <a:defRPr sz="1600"/>
            </a:pPr>
            <a:r>
              <a:t>• AI content generation: Growing 45% YoY*</a:t>
            </a:r>
          </a:p>
          <a:p>
            <a:pPr>
              <a:defRPr sz="1600"/>
            </a:pPr>
            <a:r>
              <a:t>• Video production costs: $3K-$15K per project**</a:t>
            </a:r>
          </a:p>
          <a:p>
            <a:pPr>
              <a:defRPr sz="1600"/>
            </a:pPr>
            <a:r>
              <a:t>• Character development: $2K-$200K range***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646464"/>
                </a:solidFill>
              </a:defRPr>
            </a:pPr>
            <a:r>
              <a:t>Sources: * Industry reports (2025)  ** Advids (2025)  *** BuildAIAvatar (2025)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Can Prove (Live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MEASURABLE RESULTS:</a:t>
            </a:r>
          </a:p>
          <a:p>
            <a:pPr>
              <a:defRPr sz="1600"/>
            </a:pPr>
            <a:r>
              <a:t>✓ Character Creation: 10-15 seconds (timed)</a:t>
            </a:r>
          </a:p>
          <a:p>
            <a:pPr>
              <a:defRPr sz="1600"/>
            </a:pPr>
            <a:r>
              <a:t>✓ 5-Scene Storyboard: 4-6 minutes (timed)</a:t>
            </a:r>
          </a:p>
          <a:p>
            <a:pPr>
              <a:defRPr sz="1600"/>
            </a:pPr>
            <a:r>
              <a:t>✓ Consistency Validation: 15-25 seconds (timed)</a:t>
            </a:r>
          </a:p>
          <a:p>
            <a:pPr>
              <a:defRPr sz="1600"/>
            </a:pPr>
            <a:r>
              <a:t>✓ Achieved 87.5% overall consistency (measured)</a:t>
            </a:r>
          </a:p>
          <a:p>
            <a:pPr>
              <a:defRPr sz="1600"/>
            </a:pPr>
            <a:r>
              <a:t>✓ Frame regeneration: ~30 seconds (timed)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TESTABLE QUALITY:</a:t>
            </a:r>
          </a:p>
          <a:p>
            <a:pPr>
              <a:defRPr sz="1600"/>
            </a:pPr>
            <a:r>
              <a:t>✓ Quantified scores for every frame</a:t>
            </a:r>
          </a:p>
          <a:p>
            <a:pPr>
              <a:defRPr sz="1600"/>
            </a:pPr>
            <a:r>
              <a:t>✓ Visual comparison: before vs. after</a:t>
            </a:r>
          </a:p>
          <a:p>
            <a:pPr>
              <a:defRPr sz="1600"/>
            </a:pPr>
            <a:r>
              <a:t>✓ Production-ready output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→ Everything is demonstrable and measurable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0369A1"/>
                </a:solidFill>
              </a:defRPr>
            </a:pPr>
            <a: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BACKEND:</a:t>
            </a:r>
          </a:p>
          <a:p>
            <a:pPr>
              <a:spcAft>
                <a:spcPts val="1200"/>
              </a:spcAft>
              <a:defRPr sz="1400"/>
            </a:pPr>
            <a:r>
              <a:t>• Python FastAPI (async)</a:t>
            </a:r>
          </a:p>
          <a:p>
            <a:pPr>
              <a:spcAft>
                <a:spcPts val="1200"/>
              </a:spcAft>
              <a:defRPr sz="1400"/>
            </a:pPr>
            <a:r>
              <a:t>• OpenAI GPT-4 (script parsing)</a:t>
            </a:r>
          </a:p>
          <a:p>
            <a:pPr>
              <a:spcAft>
                <a:spcPts val="1200"/>
              </a:spcAft>
              <a:defRPr sz="1400"/>
            </a:pPr>
            <a:r>
              <a:t>• OpenAI DALL-E 3 (generation)</a:t>
            </a:r>
          </a:p>
          <a:p>
            <a:pPr>
              <a:spcAft>
                <a:spcPts val="1200"/>
              </a:spcAft>
              <a:defRPr sz="1400"/>
            </a:pPr>
            <a:r>
              <a:t>• OpenAI Vision API (validation)</a:t>
            </a:r>
          </a:p>
          <a:p>
            <a:pPr>
              <a:spcAft>
                <a:spcPts val="1200"/>
              </a:spcAft>
              <a:defRPr sz="1400"/>
            </a:pPr>
            <a:r>
              <a:t>• SQLite (storage)</a:t>
            </a:r>
          </a:p>
          <a:p>
            <a:pPr>
              <a:spcAft>
                <a:spcPts val="1200"/>
              </a:spcAft>
              <a:defRPr sz="1400"/>
            </a:pPr>
            <a:r>
              <a:t>• NumPy/scikit-learn (similarity)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15+ REST API endpoints</a:t>
            </a:r>
          </a:p>
          <a:p>
            <a:pPr>
              <a:spcAft>
                <a:spcPts val="1200"/>
              </a:spcAft>
              <a:defRPr sz="1400"/>
            </a:pPr>
            <a:r>
              <a:t>Auto-generated documentation</a:t>
            </a:r>
          </a:p>
          <a:p>
            <a:pPr>
              <a:spcAft>
                <a:spcPts val="1200"/>
              </a:spcAft>
              <a:defRPr sz="1400"/>
            </a:pPr>
            <a:r>
              <a:t>Comprehensive error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/>
            </a:pPr>
            <a:r>
              <a:t>FRONTEND:</a:t>
            </a:r>
          </a:p>
          <a:p>
            <a:pPr>
              <a:spcAft>
                <a:spcPts val="1200"/>
              </a:spcAft>
              <a:defRPr sz="1400"/>
            </a:pPr>
            <a:r>
              <a:t>• React 18 + Vite</a:t>
            </a:r>
          </a:p>
          <a:p>
            <a:pPr>
              <a:spcAft>
                <a:spcPts val="1200"/>
              </a:spcAft>
              <a:defRPr sz="1400"/>
            </a:pPr>
            <a:r>
              <a:t>• Tailwind CSS</a:t>
            </a:r>
          </a:p>
          <a:p>
            <a:pPr>
              <a:spcAft>
                <a:spcPts val="1200"/>
              </a:spcAft>
              <a:defRPr sz="1400"/>
            </a:pPr>
            <a:r>
              <a:t>• Responsive design</a:t>
            </a:r>
          </a:p>
          <a:p>
            <a:pPr>
              <a:spcAft>
                <a:spcPts val="1200"/>
              </a:spcAft>
              <a:defRPr sz="1400"/>
            </a:pPr>
            <a:r>
              <a:t>• Real-time progress</a:t>
            </a:r>
          </a:p>
          <a:p>
            <a:pPr>
              <a:spcAft>
                <a:spcPts val="1200"/>
              </a:spcAft>
              <a:defRPr sz="1400"/>
            </a:pPr>
          </a:p>
          <a:p>
            <a:pPr>
              <a:spcAft>
                <a:spcPts val="1200"/>
              </a:spcAft>
              <a:defRPr sz="1400"/>
            </a:pPr>
            <a:r>
              <a:t>KEY ALGORITHMS:</a:t>
            </a:r>
          </a:p>
          <a:p>
            <a:pPr>
              <a:spcAft>
                <a:spcPts val="1200"/>
              </a:spcAft>
              <a:defRPr sz="1400"/>
            </a:pPr>
            <a:r>
              <a:t>• Visual embedding extraction</a:t>
            </a:r>
          </a:p>
          <a:p>
            <a:pPr>
              <a:spcAft>
                <a:spcPts val="1200"/>
              </a:spcAft>
              <a:defRPr sz="1400"/>
            </a:pPr>
            <a:r>
              <a:t>• Cosine similarity scoring</a:t>
            </a:r>
          </a:p>
          <a:p>
            <a:pPr>
              <a:spcAft>
                <a:spcPts val="1200"/>
              </a:spcAft>
              <a:defRPr sz="1400"/>
            </a:pPr>
            <a:r>
              <a:t>• Automated quality analysis</a:t>
            </a:r>
          </a:p>
          <a:p>
            <a:pPr>
              <a:spcAft>
                <a:spcPts val="1200"/>
              </a:spcAft>
              <a:defRPr sz="1400"/>
            </a:pPr>
            <a:r>
              <a:t>• Smart regeneration logic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PHASE 1 (1-2 months) - Optimization:</a:t>
            </a:r>
          </a:p>
          <a:p>
            <a:pPr>
              <a:defRPr sz="1600"/>
            </a:pPr>
            <a:r>
              <a:t>• Fine-tune consistency algorithms</a:t>
            </a:r>
          </a:p>
          <a:p>
            <a:pPr>
              <a:defRPr sz="1600"/>
            </a:pPr>
            <a:r>
              <a:t>• Multi-model support (Stable Diffusion, Midjourney)</a:t>
            </a:r>
          </a:p>
          <a:p>
            <a:pPr>
              <a:defRPr sz="1600"/>
            </a:pPr>
            <a:r>
              <a:t>• Cloud deployment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PHASE 2 (3-6 months) - Scale:</a:t>
            </a:r>
          </a:p>
          <a:p>
            <a:pPr>
              <a:defRPr sz="1600"/>
            </a:pPr>
            <a:r>
              <a:t>• Multi-user collaboration</a:t>
            </a:r>
          </a:p>
          <a:p>
            <a:pPr>
              <a:defRPr sz="1600"/>
            </a:pPr>
            <a:r>
              <a:t>• Industry format exports (FCP XML, Premiere)</a:t>
            </a:r>
          </a:p>
          <a:p>
            <a:pPr>
              <a:defRPr sz="1600"/>
            </a:pPr>
            <a:r>
              <a:t>• Mobile viewing app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PHASE 3 (6-12 months) - Innovation:</a:t>
            </a:r>
          </a:p>
          <a:p>
            <a:pPr>
              <a:defRPr sz="1600"/>
            </a:pPr>
            <a:r>
              <a:t>• Video storyboard animation</a:t>
            </a:r>
          </a:p>
          <a:p>
            <a:pPr>
              <a:defRPr sz="1600"/>
            </a:pPr>
            <a:r>
              <a:t>• 3D character models</a:t>
            </a:r>
          </a:p>
          <a:p>
            <a:pPr>
              <a:defRPr sz="1600"/>
            </a:pPr>
            <a:r>
              <a:t>• Style transfer</a:t>
            </a:r>
          </a:p>
          <a:p>
            <a:pPr>
              <a:defRPr sz="1600"/>
            </a:pPr>
            <a:r>
              <a:t>• Third-party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 in Unlocking AI's Full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CharacterLock AI solves the critical barrier preventing</a:t>
            </a:r>
          </a:p>
          <a:p>
            <a:pPr>
              <a:defRPr sz="1600"/>
            </a:pPr>
            <a:r>
              <a:t>AI from delivering its promised 70-90% cost savings.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✓ Production-ready technology (85%+ consistency)</a:t>
            </a:r>
          </a:p>
          <a:p>
            <a:pPr>
              <a:defRPr sz="1600"/>
            </a:pPr>
            <a:r>
              <a:t>✓ Measurable, quantified results (live demo)</a:t>
            </a:r>
          </a:p>
          <a:p>
            <a:pPr>
              <a:defRPr sz="1600"/>
            </a:pPr>
            <a:r>
              <a:t>✓ Preserves AI's time &amp; cost advantages</a:t>
            </a:r>
          </a:p>
          <a:p>
            <a:pPr>
              <a:defRPr sz="1600"/>
            </a:pPr>
            <a:r>
              <a:t>✓ Ready for market deployment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We're looking for:</a:t>
            </a:r>
          </a:p>
          <a:p>
            <a:pPr>
              <a:defRPr sz="1600"/>
            </a:pPr>
            <a:r>
              <a:t>• Feedback from film industry professionals</a:t>
            </a:r>
          </a:p>
          <a:p>
            <a:pPr>
              <a:defRPr sz="1600"/>
            </a:pPr>
            <a:r>
              <a:t>• Pilot partner studios</a:t>
            </a:r>
          </a:p>
          <a:p>
            <a:pPr>
              <a:defRPr sz="1600"/>
            </a:pPr>
            <a:r>
              <a:t>• Technical collaborators for Phase 2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Let's make AI-assisted filmmaking truly accessible!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defRPr sz="6000" b="1">
                <a:solidFill>
                  <a:srgbClr val="0369A1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1600"/>
            </a:pPr>
            <a:r>
              <a:t>CharacterLock AI</a:t>
            </a:r>
          </a:p>
          <a:p>
            <a:pPr algn="ctr">
              <a:defRPr sz="1600"/>
            </a:pPr>
            <a:r>
              <a:t>Preserving AI's 70-90% cost advantage through 85%+ character consistency</a:t>
            </a:r>
          </a:p>
          <a:p>
            <a:pPr algn="ctr">
              <a:defRPr sz="1600"/>
            </a:pPr>
          </a:p>
          <a:p>
            <a:pPr algn="ctr">
              <a:defRPr sz="1600"/>
            </a:pPr>
            <a:r>
              <a:t>Questions? 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